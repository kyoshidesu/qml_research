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1c7fbdef604a7c" /><Relationship Type="http://schemas.openxmlformats.org/officeDocument/2006/relationships/extended-properties" Target="/docProps/app.xml" Id="Rfe860f678f3e4b70" /><Relationship Type="http://schemas.openxmlformats.org/officeDocument/2006/relationships/officeDocument" Target="/ppt/presentation.xml" Id="Re75752c5db5f40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d2d576b5f4043"/>
  </p:sldMasterIdLst>
  <p:notesMasterIdLst>
    <p:notesMasterId xmlns:r="http://schemas.openxmlformats.org/officeDocument/2006/relationships" r:id="R8cd061b5f5a447e7"/>
  </p:notesMasterIdLst>
  <p:sldIdLst>
    <p:sldId xmlns:r="http://schemas.openxmlformats.org/officeDocument/2006/relationships" id="256" r:id="R853da33d8ccc47f0"/>
    <p:sldId xmlns:r="http://schemas.openxmlformats.org/officeDocument/2006/relationships" id="257" r:id="R64051c34681f4b79"/>
    <p:sldId xmlns:r="http://schemas.openxmlformats.org/officeDocument/2006/relationships" id="258" r:id="Rdf0f17dfd5364f4d"/>
    <p:sldId xmlns:r="http://schemas.openxmlformats.org/officeDocument/2006/relationships" id="259" r:id="R78aaec46b14b4069"/>
    <p:sldId xmlns:r="http://schemas.openxmlformats.org/officeDocument/2006/relationships" id="260" r:id="Rd1f4a707a110474b"/>
    <p:sldId xmlns:r="http://schemas.openxmlformats.org/officeDocument/2006/relationships" id="261" r:id="Rfbb25db30b4e43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d2d576b5f4043" /><Relationship Type="http://schemas.openxmlformats.org/officeDocument/2006/relationships/theme" Target="/ppt/theme/theme1.xml" Id="Rfbea0d21a01b47d3" /><Relationship Type="http://schemas.openxmlformats.org/officeDocument/2006/relationships/notesMaster" Target="/ppt/notesMasters/notesMaster1.xml" Id="R8cd061b5f5a447e7" /><Relationship Type="http://schemas.openxmlformats.org/officeDocument/2006/relationships/presProps" Target="/ppt/presProps.xml" Id="R0fca493bd032403a" /><Relationship Type="http://schemas.openxmlformats.org/officeDocument/2006/relationships/viewProps" Target="/ppt/viewProps.xml" Id="R8c98e05a42654d95" /><Relationship Type="http://schemas.openxmlformats.org/officeDocument/2006/relationships/tableStyles" Target="/ppt/tableStyles.xml" Id="Rfe7c12cedd564870" /><Relationship Type="http://schemas.openxmlformats.org/officeDocument/2006/relationships/slide" Target="/ppt/slides/slide1.xml" Id="R853da33d8ccc47f0" /><Relationship Type="http://schemas.openxmlformats.org/officeDocument/2006/relationships/slide" Target="/ppt/slides/slide2.xml" Id="R64051c34681f4b79" /><Relationship Type="http://schemas.openxmlformats.org/officeDocument/2006/relationships/slide" Target="/ppt/slides/slide3.xml" Id="Rdf0f17dfd5364f4d" /><Relationship Type="http://schemas.openxmlformats.org/officeDocument/2006/relationships/slide" Target="/ppt/slides/slide4.xml" Id="R78aaec46b14b4069" /><Relationship Type="http://schemas.openxmlformats.org/officeDocument/2006/relationships/slide" Target="/ppt/slides/slide5.xml" Id="Rd1f4a707a110474b" /><Relationship Type="http://schemas.openxmlformats.org/officeDocument/2006/relationships/slide" Target="/ppt/slides/slide6.xml" Id="Rfbb25db30b4e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98c8640de5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5736f18c544ab" /><Relationship Type="http://schemas.openxmlformats.org/officeDocument/2006/relationships/notesMaster" Target="/ppt/notesMasters/notesMaster1.xml" Id="R973b8f81051c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8e6ea353dd4fee" /><Relationship Type="http://schemas.openxmlformats.org/officeDocument/2006/relationships/notesMaster" Target="/ppt/notesMasters/notesMaster1.xml" Id="Rce7e415f813c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4ead6219b94d90" /><Relationship Type="http://schemas.openxmlformats.org/officeDocument/2006/relationships/notesMaster" Target="/ppt/notesMasters/notesMaster1.xml" Id="R32811df1d6c140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bd18f95a84012" /><Relationship Type="http://schemas.openxmlformats.org/officeDocument/2006/relationships/notesMaster" Target="/ppt/notesMasters/notesMaster1.xml" Id="R3159b8aa3be1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c1c8b6fe04408" /><Relationship Type="http://schemas.openxmlformats.org/officeDocument/2006/relationships/notesMaster" Target="/ppt/notesMasters/notesMaster1.xml" Id="Rd91ea438f4d5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8ff71388a64e83" /><Relationship Type="http://schemas.openxmlformats.org/officeDocument/2006/relationships/notesMaster" Target="/ppt/notesMasters/notesMaster1.xml" Id="Ra4aafc19d86b47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96a8b07a545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8c18e968a0427e" /><Relationship Type="http://schemas.openxmlformats.org/officeDocument/2006/relationships/slideLayout" Target="/ppt/slideLayouts/slideLayout2.xml" Id="R61b0a91ef71348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0a91ef71348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24a5654be40e6" /><Relationship Type="http://schemas.openxmlformats.org/officeDocument/2006/relationships/notesSlide" Target="/ppt/notesSlides/notesSlide1.xml" Id="R21498b3556d9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0342a0f8842d3" /><Relationship Type="http://schemas.openxmlformats.org/officeDocument/2006/relationships/image" Target="/ppt/media/image.png" Id="Raf1512fade054e34" /><Relationship Type="http://schemas.openxmlformats.org/officeDocument/2006/relationships/notesSlide" Target="/ppt/notesSlides/notesSlide2.xml" Id="R6c1e65a9ef6a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3e7d7dcbba4396" /><Relationship Type="http://schemas.openxmlformats.org/officeDocument/2006/relationships/image" Target="/ppt/media/image2.png" Id="Rb85db7082fe641b8" /><Relationship Type="http://schemas.openxmlformats.org/officeDocument/2006/relationships/notesSlide" Target="/ppt/notesSlides/notesSlide3.xml" Id="Ra5a5f3933f82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ebcfc26114391" /><Relationship Type="http://schemas.openxmlformats.org/officeDocument/2006/relationships/image" Target="/ppt/media/image3.png" Id="R41f80e6183674ae9" /><Relationship Type="http://schemas.openxmlformats.org/officeDocument/2006/relationships/notesSlide" Target="/ppt/notesSlides/notesSlide4.xml" Id="R0ec29249f677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3e79d81c7745ae" /><Relationship Type="http://schemas.openxmlformats.org/officeDocument/2006/relationships/image" Target="/ppt/media/image4.png" Id="Rf383ec7b828a4bf4" /><Relationship Type="http://schemas.openxmlformats.org/officeDocument/2006/relationships/image" Target="/ppt/media/image5.png" Id="R2d046ab5f803454d" /><Relationship Type="http://schemas.openxmlformats.org/officeDocument/2006/relationships/notesSlide" Target="/ppt/notesSlides/notesSlide5.xml" Id="Rce25356a810e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7a7a55cfa4b1f" /><Relationship Type="http://schemas.openxmlformats.org/officeDocument/2006/relationships/notesSlide" Target="/ppt/notesSlides/notesSlide6.xml" Id="R2e7480d56d044c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13419-3F19-4C2C-B3C8-0FCCB0B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B89AAC-3556-4BDE-98B9-477FC0CF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F61165-FD19-4A51-A9B9-E17FFE4A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6"/>
                </a:solidFill>
                <a:latin typeface="Aptos"/>
                <a:ea typeface="Aptos"/>
                <a:cs typeface="Aptos"/>
              </a:rPr>
              <a:t>QML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B33ED-C088-490F-B555-A4DDD73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Combined outputs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AA39E-8EF2-46F4-B53D-C7796D3C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477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Classical SVM matched or beat QSVM on every dataset in the experiment pack.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20319-25C4-4934-8C46-B3E116C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71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The strongest signal in the logs is not a breakthrough from QSVM, but a persistent compute tradeoff: much longer search time for equal or weaker test accuracy.</a:t>
            </a:r>
          </a:p>
        </p:txBody>
      </p:sp>
      <p:sp>
        <p:nvSpPr>
          <p:cNvPr id="7" name="hero-panel">
            <a:extLst xmlns:a="http://schemas.openxmlformats.org/drawingml/2006/main">
              <a:ext uri="{FF2B5EF4-FFF2-40B4-BE49-F238E27FC236}">
                <a16:creationId xmlns:a16="http://schemas.microsoft.com/office/drawing/2014/main" id="{90434725-D35E-4021-8A2C-9AFD812F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4286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CB6FA-02D2-4037-8CCA-3260599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650C8-279F-4703-BB0B-01FDBB8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9B15-7BDB-4699-A5D3-47A7BC23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Classical SVM matched or exceeded QSVM accuracy on all four datasets.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E9625-CDE4-4E06-BEF6-AA3B3AF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21445-FA00-4BE7-8620-1AAAC36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C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C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8522A-D4BE-4825-840A-8F8FA041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QSVM search was always the longest phase, making runtime the dominant tradeoff.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69D13-A08B-456E-88D6-4DC59F9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D1476-08FF-47BB-8310-123C13AD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06D67-0D74-4624-8067-36B7EB00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Heart Disease was the only run with GPU visibility, but the GPU still appeared mostly idle.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F1893-5944-4CDC-A163-85742AC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11F64-B94F-48CB-9391-44F1D90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C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C3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17565-31E5-4154-B565-775E2566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first Iris attempt failed because the classical SVM grid passed a scalar C instead of a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D961D-51A4-4892-B6CE-38ADF5B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Source base: logs, metadata, tables, and plots in `combined_outputs`.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651A8-2ABD-4A62-B8B6-D0D0762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2782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9AE9D-313C-4D17-B30D-4ABF0CC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8F78A4-D5E7-4DAC-B7FF-4ED1BAD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AC9D189-7C4E-47D9-8112-8F926F0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6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71336-4B36-4683-B9A2-A03EA161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Accuracy leadership stays with the classical baseline in three of four datasets.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512fade054e34"/>
          <a:stretch xmlns:a="http://schemas.openxmlformats.org/drawingml/2006/main"/>
        </p:blipFill>
        <p:spPr>
          <a:xfrm xmlns:a="http://schemas.openxmlformats.org/drawingml/2006/main">
            <a:off x="616245" y="1676400"/>
            <a:ext cx="7225709" cy="4438650"/>
          </a:xfrm>
          <a:prstGeom xmlns:a="http://schemas.openxmlformats.org/drawingml/2006/main" prst="rect">
            <a:avLst/>
          </a:prstGeom>
        </p:spPr>
      </p:pic>
      <p:sp>
        <p:nvSpPr>
          <p:cNvPr id="6" name="right-panel">
            <a:extLst xmlns:a="http://schemas.openxmlformats.org/drawingml/2006/main">
              <a:ext uri="{FF2B5EF4-FFF2-40B4-BE49-F238E27FC236}">
                <a16:creationId xmlns:a16="http://schemas.microsoft.com/office/drawing/2014/main" id="{F03AC828-9156-413F-83EE-DC1EE073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333750" cy="4438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5905F-7897-40DC-A829-95FB16C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3A811-A3A8-4035-99BE-79F8F92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57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73A2C-17B4-473A-B322-596086E6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SVM 97.2% | QSVM 91.7%</a:t>
            </a:r>
          </a:p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Gap: 5.6 pts | 178 rows | 13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4C503-B6B3-4532-837F-751268D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CD032-62BA-46CE-8F3D-EEB3B34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Breast Cancer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339A6-833A-4A4B-94B4-838792E3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SVM 98.2% | QSVM 95.6%</a:t>
            </a:r>
          </a:p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Gap: 2.6 pts | 569 rows | 30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57217-5077-4AA7-8969-F2BF45D7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E0722-977F-489E-93EC-2E997B67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76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Heart Disease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EF445-6AE1-4B59-BD32-DE9CE31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SVM 82% | QSVM 80.3%</a:t>
            </a:r>
          </a:p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Gap: 1.6 pts | 303 rows | 13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17F0F-CDE2-498E-8950-EF6100F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94FE2-CBC5-486B-9B09-FA4C3FF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86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BA4AE-0F84-4F4D-9505-34799A3B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149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SVM 93.3% | QSVM 93.3%</a:t>
            </a:r>
          </a:p>
          <a:p xmlns:a="http://schemas.openxmlformats.org/drawingml/2006/main">
            <a:pPr algn="l">
              <a:defRPr sz="975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Tie | 150 rows | 4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A798E-C96E-4A6F-8C18-ABFB392D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Interpretation: the empirical case for QSVM is weakest on Wine and Breast Cancer, where the accuracy gap is meaningful and the classical model remains cleaner.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30B3F-1C1D-418F-8C56-29CB0CE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35413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FA881-6340-43A9-B3A5-F40398E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BA2A7F-6C7F-4B3F-B041-12D59F57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3B"/>
          </a:solidFill>
          <a:ln xmlns:a="http://schemas.openxmlformats.org/drawingml/2006/main" w="0">
            <a:solidFill>
              <a:srgbClr val="F06C3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64E652-71A3-4180-AAB8-A0A61890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6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C562C-245E-4EE2-AF7F-18B9418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runtime story is decisive: QSVM search consumes the budget long before it creates an accuracy advantage.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db7082fe641b8"/>
          <a:stretch xmlns:a="http://schemas.openxmlformats.org/drawingml/2006/main"/>
        </p:blipFill>
        <p:spPr>
          <a:xfrm xmlns:a="http://schemas.openxmlformats.org/drawingml/2006/main">
            <a:off x="747183" y="1714500"/>
            <a:ext cx="6963833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runtime-panel">
            <a:extLst xmlns:a="http://schemas.openxmlformats.org/drawingml/2006/main">
              <a:ext uri="{FF2B5EF4-FFF2-40B4-BE49-F238E27FC236}">
                <a16:creationId xmlns:a16="http://schemas.microsoft.com/office/drawing/2014/main" id="{779767DA-ACB0-4FE2-A1E7-3C893364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429000" cy="44958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775C1-1D67-4ADE-9E9A-596B016E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895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B02E2-C863-4B7E-8A05-25949D6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Breast Cancer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D0D78-A0A7-4C28-9BC9-7A3B3D80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QSVM build: 149.6 min | 4816x slower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Classical build: 1.9 s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No GPU detected in the recorded runtime summary.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1212D-05E3-43FC-A8D8-1C3E38DE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2895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B0F09-384B-40D6-B087-8428871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Heart Disease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CB6F2-FB0E-42FC-81B3-D393A1D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QSVM build: 107.6 min | 2839x slower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Classical build: 2.3 s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GPU visible, but still not the main accelerator.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C121A-7E86-4FDA-91AA-0EFD950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895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E12D5-F147-44A8-BB8C-3F98987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9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8A45A-A957-4664-85E0-D9661C14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QSVM build: 23.7 min | 1608x slower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Classical build: 0.9 s</a:t>
            </a:r>
          </a:p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No GPU detected in the recorded runtime summary.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CEC03-CF5D-4AAF-B1B0-9DC6D11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Implication: any future QSVM iteration should begin with search-space reduction and pipeline profiling, not broader dataset expansion.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CE9B0-038A-4F84-A6A5-CC14D2A7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94039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EE579-671A-40FF-BAEA-7198F2D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0CCA07-DFA6-410F-B0EE-49C9BEF2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66E"/>
          </a:solidFill>
          <a:ln xmlns:a="http://schemas.openxmlformats.org/drawingml/2006/main" w="0">
            <a:solidFill>
              <a:srgbClr val="0E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4246F4-3F79-4EFE-BB5A-3E0D9790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6"/>
                </a:solidFill>
                <a:latin typeface="Aptos"/>
                <a:ea typeface="Aptos"/>
                <a:cs typeface="Aptos"/>
              </a:rPr>
              <a:t>Logs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B204D-DC43-4D0A-8779-7630FD7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90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logs show a pipeline that eventually completes, but not one that is yet stable enough to call mature.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80e6183674ae9"/>
          <a:stretch xmlns:a="http://schemas.openxmlformats.org/drawingml/2006/main"/>
        </p:blipFill>
        <p:spPr>
          <a:xfrm xmlns:a="http://schemas.openxmlformats.org/drawingml/2006/main">
            <a:off x="609600" y="1815193"/>
            <a:ext cx="6096000" cy="3570514"/>
          </a:xfrm>
          <a:prstGeom xmlns:a="http://schemas.openxmlformats.org/drawingml/2006/main" prst="rect">
            <a:avLst/>
          </a:prstGeom>
        </p:spPr>
      </p:pic>
      <p:sp>
        <p:nvSpPr>
          <p:cNvPr id="6" name="notes-panel">
            <a:extLst xmlns:a="http://schemas.openxmlformats.org/drawingml/2006/main">
              <a:ext uri="{FF2B5EF4-FFF2-40B4-BE49-F238E27FC236}">
                <a16:creationId xmlns:a16="http://schemas.microsoft.com/office/drawing/2014/main" id="{CAD6C82B-C4E4-40E7-8C9C-0571D98D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45148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F8CCB-AE78-4391-A663-76951DC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first Iris attempt failed before the classical search even began because the SVM grid passed a scalar `C` instead of a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0E0CA-6C81-43E9-97B2-CA26F54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All four datasets then logged repeated QSVM Optuna trial failures with the same `NoneType` error signature.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701C7-1D8E-46B4-B6E0-F33A818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Even so, the final reruns completed and exported the expected reports, tables, and decision-boundary plots.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135C7-6216-4EA2-85FA-A1FEC9A8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Heart Disease is the only case with recorded GPU visibility, yet its runtime summary still flagged several phases as mostly idle on GPU.</a:t>
            </a:r>
          </a:p>
        </p:txBody>
      </p:sp>
      <p:sp>
        <p:nvSpPr>
          <p:cNvPr id="11" name="closing-strip">
            <a:extLst xmlns:a="http://schemas.openxmlformats.org/drawingml/2006/main">
              <a:ext uri="{FF2B5EF4-FFF2-40B4-BE49-F238E27FC236}">
                <a16:creationId xmlns:a16="http://schemas.microsoft.com/office/drawing/2014/main" id="{6D45F160-D7BA-406F-A20C-6EC3ADC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159E-40AF-4582-AA47-EF41566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66E"/>
                </a:solidFill>
                <a:latin typeface="Aptos"/>
                <a:ea typeface="Aptos"/>
                <a:cs typeface="Aptos"/>
              </a:rPr>
              <a:t>Operational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19E00-0129-40BC-98B9-47BAC241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531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Fix the QSVM trial-failure path and standardize the compute environment before expanding the experiment suite.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D8D4-CB22-44BB-B8C5-0619039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28081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31D8A-C6E7-45EF-A0FD-DA9ABA23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0C0C9A-B67F-44F8-B7E8-75A785A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656E46-F127-4C6B-8502-16957CF7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6"/>
                </a:solidFill>
                <a:latin typeface="Aptos"/>
                <a:ea typeface="Aptos"/>
                <a:cs typeface="Aptos"/>
              </a:rPr>
              <a:t>Dataset drill-down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97162-08AD-49C6-B130-7F3F19A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practical decision is clearest on Breast Cancer and Heart Disease: classical SVM stays ahead without the quantum tax.</a:t>
            </a:r>
          </a:p>
        </p:txBody>
      </p:sp>
      <p:sp>
        <p:nvSpPr>
          <p:cNvPr id="5" name="left-visual-panel">
            <a:extLst xmlns:a="http://schemas.openxmlformats.org/drawingml/2006/main">
              <a:ext uri="{FF2B5EF4-FFF2-40B4-BE49-F238E27FC236}">
                <a16:creationId xmlns:a16="http://schemas.microsoft.com/office/drawing/2014/main" id="{AAEA996D-BA47-448A-A2A9-50897AE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768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6" name="right-visual-panel">
            <a:extLst xmlns:a="http://schemas.openxmlformats.org/drawingml/2006/main">
              <a:ext uri="{FF2B5EF4-FFF2-40B4-BE49-F238E27FC236}">
                <a16:creationId xmlns:a16="http://schemas.microsoft.com/office/drawing/2014/main" id="{7F476442-CC1F-4C26-8D8C-1E88546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52768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3ec7b828a4bf4"/>
          <a:stretch xmlns:a="http://schemas.openxmlformats.org/drawingml/2006/main"/>
        </p:blipFill>
        <p:spPr>
          <a:xfrm xmlns:a="http://schemas.openxmlformats.org/drawingml/2006/main">
            <a:off x="1041400" y="1981200"/>
            <a:ext cx="4413250" cy="26479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46ab5f803454d"/>
          <a:stretch xmlns:a="http://schemas.openxmlformats.org/drawingml/2006/main"/>
        </p:blipFill>
        <p:spPr>
          <a:xfrm xmlns:a="http://schemas.openxmlformats.org/drawingml/2006/main">
            <a:off x="6737350" y="1981200"/>
            <a:ext cx="4413250" cy="2647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E927D-75C1-49A9-AFD3-6FA82E67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Breast Cancer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B583E-7BD3-470E-9125-1D1B4E4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Accuracy: 98.2% vs 95.6%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7364-93CB-4CB7-87B7-9997CAE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Type I errors: 0, Type II errors: 2 for positive class malignant.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F889D-6C35-41DC-AED4-82E4824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6C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6C3B"/>
                </a:solidFill>
                <a:latin typeface="Aptos"/>
                <a:ea typeface="Aptos"/>
                <a:cs typeface="Aptos"/>
              </a:rPr>
              <a:t>149.6 min QSVM build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A6349-672D-45F8-A097-30BE65E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Heart Disease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C150C-B1B6-4010-A226-CDBDA1E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Accuracy: 82.0% vs 80.3%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A669A-F591-4C68-91E6-B79A09E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Type I errors: 10, Type II errors: 1 for positive class 1.0.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A1BD5-D095-4A03-BF01-705C149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101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6C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6C3B"/>
                </a:solidFill>
                <a:latin typeface="Aptos"/>
                <a:ea typeface="Aptos"/>
                <a:cs typeface="Aptos"/>
              </a:rPr>
              <a:t>107.6 min QSVM build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30C3-F093-4F42-9376-897AD6A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These plots are illustrative rather than decisive on their own, but they pair well with the tabular results: QSVM does not convert its extra search time into better generalization on the harder datasets.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F347C-8489-4058-98C7-D11F66A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4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0935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E2403-8DA0-474E-B71B-3E11F5A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DBC462-5C3F-45A0-AD52-3611A319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F2D367-8590-4300-8856-17A5B4E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E0EE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44BD3-D5AD-41B7-8242-D2E1CBD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to do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F72A5-2A82-46FA-AB0B-06F8B7EA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43451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D8DDC-DADE-4B44-829F-DB8D341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368FD-BDA4-4220-A8EB-9D707FE9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classical SVM as the benchmark and likely default.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98C48-0818-4711-9D3E-011B6D53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71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It wins or ties everywhere in this experiment pack.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C3784-D8ED-4CB1-833A-6490C327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2C45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E60AF-94BC-4078-B81B-429999F8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3EB0-6D82-40C7-866F-AB76A10F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Stabilize the QSVM search path before scaling.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7DB5A-75D6-43AB-85FB-0411E66F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171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The repeated Optuna `NoneType` trial failures are a reliability warning, not just noise.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51A01-BF84-4D35-AD2B-39244D5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2C45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3BF2C-B64D-4481-AFC5-3425BDA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76D0E-A61B-4111-A3DC-592B969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runtime studies apples-to-apples.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98051-8537-483E-82C3-4E9D607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4171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Heart Disease ran on stronger hardware than the other datasets, so future comparisons should normalize the environment.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F8D30-E176-47FA-8B0E-9BF0532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2C45"/>
          </a:solidFill>
          <a:ln xmlns:a="http://schemas.openxmlformats.org/drawingml/2006/main" w="14288">
            <a:solidFill>
              <a:srgbClr val="D8CB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95A4D-769D-4308-80F7-37708CC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855CE-8D38-4F71-AB03-5232EDF7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revisit QSVM with a narrower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8BB58-5E9D-4EA9-908F-039432B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48200"/>
            <a:ext cx="4171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Good candidates are feature-map ablations, smaller search spaces, and profiling-focused runs rather than broad reruns.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35770-4AAC-4FF9-9EAE-E2C64C4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Bottom line: the current evidence supports classical SVM as the more efficient and more reliable choice in this experiment set.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29FB9-3298-4907-BD38-F393CDA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0E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E0E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66952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2026-05-20T12:00:39.3790000Z</dcterms:created>
  <dcterms:modified xsi:type="dcterms:W3CDTF">2026-05-20T12:00:39.3790000Z</dcterms:modified>
</coreProperties>
</file>